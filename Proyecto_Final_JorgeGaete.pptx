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73" r:id="rId5"/>
    <p:sldId id="285" r:id="rId6"/>
    <p:sldId id="291" r:id="rId7"/>
    <p:sldId id="296" r:id="rId8"/>
    <p:sldId id="298" r:id="rId9"/>
    <p:sldId id="300" r:id="rId10"/>
    <p:sldId id="302" r:id="rId11"/>
    <p:sldId id="301" r:id="rId12"/>
    <p:sldId id="297" r:id="rId13"/>
    <p:sldId id="271" r:id="rId1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3B1EC3-0365-3644-8E06-202FCCB258CE}" v="78" dt="2025-07-31T19:10:24.711"/>
    <p1510:client id="{CD1186E6-01EC-988D-11A3-DAEAB2105ACA}" v="20" dt="2025-07-31T19:13:09.9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4B5C2062-4C6F-58DF-1E99-D2204908E8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AA4CE8-F02C-8926-ED66-924EB0E952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390E3-BB12-AA41-842E-54CB71578BE8}" type="datetimeFigureOut">
              <a:rPr lang="es-CL" smtClean="0"/>
              <a:t>12-12-2025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7A45D3-4F52-6312-CBF2-53AB3026C5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1B92E5-861D-3842-B869-7DBA86F85F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477AE-4EAB-E549-890C-C70837E8BD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18139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834E-DECA-374F-B918-F97D1C07DD57}" type="datetimeFigureOut">
              <a:rPr lang="es-CL" smtClean="0"/>
              <a:t>12-12-2025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1BB672-C539-BA43-BE21-57857069430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9804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4">
            <a:extLst>
              <a:ext uri="{FF2B5EF4-FFF2-40B4-BE49-F238E27FC236}">
                <a16:creationId xmlns:a16="http://schemas.microsoft.com/office/drawing/2014/main" id="{DB83BB29-10DA-8F41-9D42-1E324A43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75" y="2983036"/>
            <a:ext cx="6779624" cy="1189236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AF326BB6-0E89-DB82-D463-929C294E9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075" y="4172272"/>
            <a:ext cx="6779624" cy="6728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2900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opcion 2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4">
            <a:extLst>
              <a:ext uri="{FF2B5EF4-FFF2-40B4-BE49-F238E27FC236}">
                <a16:creationId xmlns:a16="http://schemas.microsoft.com/office/drawing/2014/main" id="{DB83BB29-10DA-8F41-9D42-1E324A43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75" y="2983036"/>
            <a:ext cx="6779624" cy="1189236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AF326BB6-0E89-DB82-D463-929C294E9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075" y="4172272"/>
            <a:ext cx="6779624" cy="6728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635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ILLA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AE73376D-6DC0-C86C-F5D3-5637CC24F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628" y="2236995"/>
            <a:ext cx="6849121" cy="238400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599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ERIOR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FE3EF7-F057-72F9-9AC5-71281EA53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56" y="141596"/>
            <a:ext cx="11495313" cy="935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5FEFC3-25B1-2C67-C64D-A820D0BA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285" y="1709056"/>
            <a:ext cx="11350172" cy="4604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96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543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390106-5CDB-9AA2-85B6-92F16D1D2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56" y="141596"/>
            <a:ext cx="11495313" cy="935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084DFF-FE77-FBB4-E844-ECFFD5AAF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285" y="1709056"/>
            <a:ext cx="11350172" cy="4604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F600AF-24BA-6313-A0B5-72AFD3809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2857" y="6333217"/>
            <a:ext cx="2743200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67430-99BF-4353-AA10-F03BDF83D10D}" type="datetimeFigureOut">
              <a:rPr lang="es-CL" smtClean="0"/>
              <a:t>12-12-2025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AF1664-B91E-96CD-F683-7E0B629C4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13714"/>
            <a:ext cx="4114800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8016DA-A718-2F8A-176C-B4FFCFFA8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4970" y="6313713"/>
            <a:ext cx="2743200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4978CE-5BC3-4F59-B9F8-330DC83C3BE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006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5" r:id="rId2"/>
    <p:sldLayoutId id="2147483650" r:id="rId3"/>
    <p:sldLayoutId id="2147483654" r:id="rId4"/>
    <p:sldLayoutId id="214748366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5E6DDCB-E26E-6C35-4CED-7AB1BEC21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75" y="2395806"/>
            <a:ext cx="6779624" cy="1189236"/>
          </a:xfrm>
        </p:spPr>
        <p:txBody>
          <a:bodyPr>
            <a:normAutofit fontScale="90000"/>
          </a:bodyPr>
          <a:lstStyle/>
          <a:p>
            <a:r>
              <a:rPr lang="es-CL" dirty="0"/>
              <a:t>Detección de Anomalías en Series Temporales con Métodos Clásicos y </a:t>
            </a:r>
            <a:r>
              <a:rPr lang="es-CL" dirty="0" err="1"/>
              <a:t>Autoencoders</a:t>
            </a:r>
            <a:endParaRPr lang="es-CL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F6FEC9DE-304A-C9D8-DDD5-D7D047E8C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075" y="3803156"/>
            <a:ext cx="6779624" cy="1189236"/>
          </a:xfrm>
        </p:spPr>
        <p:txBody>
          <a:bodyPr>
            <a:normAutofit/>
          </a:bodyPr>
          <a:lstStyle/>
          <a:p>
            <a:r>
              <a:rPr lang="es-CL" dirty="0"/>
              <a:t>Proyecto Final </a:t>
            </a:r>
          </a:p>
          <a:p>
            <a:r>
              <a:rPr lang="es-CL" dirty="0"/>
              <a:t>Inteligencia Artificial</a:t>
            </a:r>
          </a:p>
          <a:p>
            <a:r>
              <a:rPr lang="es-CL" dirty="0"/>
              <a:t>Magister en Data </a:t>
            </a:r>
            <a:r>
              <a:rPr lang="es-CL" dirty="0" err="1"/>
              <a:t>Science</a:t>
            </a:r>
            <a:r>
              <a:rPr lang="es-CL" dirty="0"/>
              <a:t> 2024</a:t>
            </a:r>
          </a:p>
        </p:txBody>
      </p:sp>
      <p:sp>
        <p:nvSpPr>
          <p:cNvPr id="2" name="Subtítulo 4">
            <a:extLst>
              <a:ext uri="{FF2B5EF4-FFF2-40B4-BE49-F238E27FC236}">
                <a16:creationId xmlns:a16="http://schemas.microsoft.com/office/drawing/2014/main" id="{45FBA399-1A11-C456-A547-1222CA1D3F80}"/>
              </a:ext>
            </a:extLst>
          </p:cNvPr>
          <p:cNvSpPr txBox="1">
            <a:spLocks/>
          </p:cNvSpPr>
          <p:nvPr/>
        </p:nvSpPr>
        <p:spPr>
          <a:xfrm>
            <a:off x="323075" y="5696125"/>
            <a:ext cx="6779624" cy="1011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Pofesor</a:t>
            </a:r>
            <a:r>
              <a:rPr lang="es-CL" dirty="0"/>
              <a:t>: Manuel Goyo Escalona</a:t>
            </a:r>
          </a:p>
          <a:p>
            <a:r>
              <a:rPr lang="es-CL" dirty="0"/>
              <a:t>Alumno: Jorge Gaete Pardo</a:t>
            </a:r>
          </a:p>
          <a:p>
            <a:r>
              <a:rPr lang="es-CL" dirty="0"/>
              <a:t>12 de Diciembre de 2025</a:t>
            </a:r>
          </a:p>
        </p:txBody>
      </p:sp>
    </p:spTree>
    <p:extLst>
      <p:ext uri="{BB962C8B-B14F-4D97-AF65-F5344CB8AC3E}">
        <p14:creationId xmlns:p14="http://schemas.microsoft.com/office/powerpoint/2010/main" val="2857257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F966263-AEC4-5DB4-5246-1D8295DB6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75" y="2091110"/>
            <a:ext cx="6779624" cy="1189236"/>
          </a:xfrm>
        </p:spPr>
        <p:txBody>
          <a:bodyPr/>
          <a:lstStyle/>
          <a:p>
            <a:r>
              <a:rPr lang="es-CL" dirty="0"/>
              <a:t>Motivación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3CE4340E-D743-0D87-1CB9-DD020EA7A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074" y="2910979"/>
            <a:ext cx="6992125" cy="378343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Las anomalías en series temporales pueden indicar fallas, riesgos o eventos críticos.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Detectarlas a tiempo es clave en salud, industria, finanzas y ciberseguridad.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Las anomalías son raras y difíciles de modelar, por lo que se necesitan enfoques robustos.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Comparar métodos clásicos y profundos permite entender sus fortalezas y limitaciones.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El objetivo es evaluar cuál técnica detecta mejor patrones anómalos en señales reales.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5692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B6A85-63CC-3FD3-2E86-307AEDB88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8635" y="889976"/>
            <a:ext cx="4792875" cy="1192005"/>
          </a:xfrm>
        </p:spPr>
        <p:txBody>
          <a:bodyPr/>
          <a:lstStyle/>
          <a:p>
            <a:r>
              <a:rPr lang="es-CL" dirty="0"/>
              <a:t>Descripción del problema</a:t>
            </a:r>
          </a:p>
        </p:txBody>
      </p:sp>
      <p:sp>
        <p:nvSpPr>
          <p:cNvPr id="3" name="Subtítulo 3">
            <a:extLst>
              <a:ext uri="{FF2B5EF4-FFF2-40B4-BE49-F238E27FC236}">
                <a16:creationId xmlns:a16="http://schemas.microsoft.com/office/drawing/2014/main" id="{55164093-60D3-1AB1-CA70-AE4FD016289F}"/>
              </a:ext>
            </a:extLst>
          </p:cNvPr>
          <p:cNvSpPr txBox="1">
            <a:spLocks/>
          </p:cNvSpPr>
          <p:nvPr/>
        </p:nvSpPr>
        <p:spPr>
          <a:xfrm>
            <a:off x="2525500" y="2184589"/>
            <a:ext cx="6992125" cy="37834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detección de anomalías en series temporales busca identificar puntos o patrones que se desvían del comportamiento normal de una señal. </a:t>
            </a:r>
          </a:p>
          <a:p>
            <a:pPr marL="342900" indent="-342900"/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Estas anomalías pueden indicar fallas, riesgos o eventos críticos. </a:t>
            </a:r>
          </a:p>
          <a:p>
            <a:pPr marL="342900" indent="-342900"/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desafío es que son poco frecuentes y difíciles de modelar, por lo que se evaluarán dos enfoques: un método clásico y un método profundo, comparando su capacidad para identificar anomalías en señales reales como las del </a:t>
            </a:r>
            <a:r>
              <a:rPr lang="es-MX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ECG5000.</a:t>
            </a:r>
            <a:endParaRPr lang="es-CL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329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F3AD-BBBB-6A5E-3109-5DD11688C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E6B1A-423B-6573-749E-6D46DC30C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501" y="889976"/>
            <a:ext cx="5006010" cy="1192005"/>
          </a:xfrm>
        </p:spPr>
        <p:txBody>
          <a:bodyPr/>
          <a:lstStyle/>
          <a:p>
            <a:r>
              <a:rPr lang="es-CL" dirty="0"/>
              <a:t>Descripción del </a:t>
            </a:r>
            <a:r>
              <a:rPr lang="es-CL" dirty="0" err="1"/>
              <a:t>Dataset</a:t>
            </a:r>
            <a:endParaRPr lang="es-CL" dirty="0"/>
          </a:p>
        </p:txBody>
      </p:sp>
      <p:sp>
        <p:nvSpPr>
          <p:cNvPr id="3" name="Subtítulo 3">
            <a:extLst>
              <a:ext uri="{FF2B5EF4-FFF2-40B4-BE49-F238E27FC236}">
                <a16:creationId xmlns:a16="http://schemas.microsoft.com/office/drawing/2014/main" id="{3CCF5D6C-A263-D4D6-F13A-933941AF6639}"/>
              </a:ext>
            </a:extLst>
          </p:cNvPr>
          <p:cNvSpPr txBox="1">
            <a:spLocks/>
          </p:cNvSpPr>
          <p:nvPr/>
        </p:nvSpPr>
        <p:spPr>
          <a:xfrm>
            <a:off x="2525500" y="2184589"/>
            <a:ext cx="7110113" cy="378343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 de datos: 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señales de electrocardiograma (ECG) unidimensionales, cada una representando un latido cardíaco.</a:t>
            </a:r>
          </a:p>
          <a:p>
            <a:pPr marL="0" indent="0">
              <a:buNone/>
            </a:pPr>
            <a:r>
              <a:rPr lang="es-MX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Tamaño: 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contiene 5000 muestras en total, divididas en conjuntos de entrenamiento y prueba.</a:t>
            </a:r>
          </a:p>
          <a:p>
            <a:pPr marL="0" indent="0">
              <a:buNone/>
            </a:pPr>
            <a:r>
              <a:rPr lang="es-MX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Longitud fija: 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 señal tiene exactamente 140 puntos temporales, lo que facilita el uso de modelos clásicos y profundos.</a:t>
            </a:r>
          </a:p>
          <a:p>
            <a:pPr marL="0" indent="0">
              <a:buNone/>
            </a:pPr>
            <a:r>
              <a:rPr lang="es-MX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Etiquetas: 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incluye 5 clases originales, donde la clase 1 corresponde a latidos normales y las clases 2–5 representan distintos tipos de anomalías.</a:t>
            </a:r>
          </a:p>
          <a:p>
            <a:pPr marL="0" indent="0">
              <a:buNone/>
            </a:pPr>
            <a:r>
              <a:rPr lang="es-MX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Uso común: 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 un </a:t>
            </a:r>
            <a:r>
              <a:rPr lang="es-MX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estándar para detección de anomalías y clasificación de señales biomédicas, ampliamente utilizado en </a:t>
            </a:r>
            <a:r>
              <a:rPr lang="es-MX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benchmarks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Machine </a:t>
            </a:r>
            <a:r>
              <a:rPr lang="es-MX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Deep </a:t>
            </a:r>
            <a:r>
              <a:rPr lang="es-MX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s-MX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s-CL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https://www.timeseriesclassification.com/aeon-toolkit/ECG5000.zip</a:t>
            </a:r>
          </a:p>
        </p:txBody>
      </p:sp>
    </p:spTree>
    <p:extLst>
      <p:ext uri="{BB962C8B-B14F-4D97-AF65-F5344CB8AC3E}">
        <p14:creationId xmlns:p14="http://schemas.microsoft.com/office/powerpoint/2010/main" val="1738923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9D705-66A7-B722-EBCA-1BE6EEC95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E5519B9-5F0B-EE9D-763D-28E46E98F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3" y="307039"/>
            <a:ext cx="11495313" cy="935837"/>
          </a:xfrm>
        </p:spPr>
        <p:txBody>
          <a:bodyPr/>
          <a:lstStyle/>
          <a:p>
            <a:pPr algn="ctr"/>
            <a:r>
              <a:rPr lang="es-CL" dirty="0"/>
              <a:t>Comparación de Métodos</a:t>
            </a:r>
          </a:p>
        </p:txBody>
      </p:sp>
      <p:sp>
        <p:nvSpPr>
          <p:cNvPr id="4" name="Google Shape;1219;p13">
            <a:extLst>
              <a:ext uri="{FF2B5EF4-FFF2-40B4-BE49-F238E27FC236}">
                <a16:creationId xmlns:a16="http://schemas.microsoft.com/office/drawing/2014/main" id="{E43C8EC9-6C59-7B7F-36A4-9F690F35B613}"/>
              </a:ext>
            </a:extLst>
          </p:cNvPr>
          <p:cNvSpPr txBox="1"/>
          <p:nvPr/>
        </p:nvSpPr>
        <p:spPr>
          <a:xfrm>
            <a:off x="2102610" y="1861781"/>
            <a:ext cx="3104746" cy="123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91425" tIns="45700" rIns="91425" bIns="4570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Play"/>
                <a:sym typeface="Play"/>
              </a:rPr>
              <a:t>Isolation</a:t>
            </a:r>
            <a:r>
              <a:rPr lang="pt-BR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lay"/>
                <a:sym typeface="Play"/>
              </a:rPr>
              <a:t> Forest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b="0" i="0" u="none" strike="noStrike" cap="none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Basado</a:t>
            </a:r>
            <a:r>
              <a:rPr lang="pt-BR" sz="1400" b="0" i="0" u="none" strike="noStrike" cap="none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en</a:t>
            </a:r>
            <a:r>
              <a:rPr lang="pt-BR" sz="1400" b="0" i="0" u="none" strike="noStrike" cap="none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aislamiento</a:t>
            </a:r>
            <a:endParaRPr lang="pt-BR" sz="1400" b="0" i="0" u="none" strike="noStrike" cap="none" dirty="0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No supervisado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b="0" i="0" u="none" strike="noStrike" cap="none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Rápido y </a:t>
            </a:r>
            <a:r>
              <a:rPr lang="pt-BR" sz="1400" b="0" i="0" u="none" strike="noStrike" cap="none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Simple</a:t>
            </a:r>
            <a:endParaRPr lang="pt-BR" dirty="0"/>
          </a:p>
        </p:txBody>
      </p:sp>
      <p:sp>
        <p:nvSpPr>
          <p:cNvPr id="6" name="Google Shape;1221;p13">
            <a:extLst>
              <a:ext uri="{FF2B5EF4-FFF2-40B4-BE49-F238E27FC236}">
                <a16:creationId xmlns:a16="http://schemas.microsoft.com/office/drawing/2014/main" id="{C5ED4467-D497-8A52-38A6-99CCA8AE04A5}"/>
              </a:ext>
            </a:extLst>
          </p:cNvPr>
          <p:cNvSpPr txBox="1"/>
          <p:nvPr/>
        </p:nvSpPr>
        <p:spPr>
          <a:xfrm>
            <a:off x="7525417" y="1861781"/>
            <a:ext cx="3104746" cy="123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91425" tIns="45700" rIns="91425" bIns="4570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es-CL" sz="2000" b="1" i="0" u="none" strike="noStrike" cap="none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Autoencoder</a:t>
            </a:r>
            <a:endParaRPr sz="1600" b="1" i="0" u="none" strike="noStrike" cap="none" dirty="0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Aprende la estrutura normal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b="0" i="0" u="none" strike="noStrike" cap="none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Error</a:t>
            </a:r>
            <a:r>
              <a:rPr lang="pt-BR" sz="1400" b="0" i="0" u="none" strike="noStrike" cap="none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de </a:t>
            </a:r>
            <a:r>
              <a:rPr lang="pt-BR" sz="1400" b="0" i="0" u="none" strike="noStrike" cap="none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reconstrucción</a:t>
            </a:r>
            <a:r>
              <a:rPr lang="pt-BR" sz="1400" b="0" i="0" u="none" strike="noStrike" cap="none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como indicador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Arquitectura</a:t>
            </a:r>
            <a:r>
              <a:rPr lang="pt-BR" sz="1400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LSTM/CNN</a:t>
            </a:r>
            <a:endParaRPr dirty="0"/>
          </a:p>
        </p:txBody>
      </p:sp>
      <p:pic>
        <p:nvPicPr>
          <p:cNvPr id="8" name="Google Shape;1133;p11">
            <a:extLst>
              <a:ext uri="{FF2B5EF4-FFF2-40B4-BE49-F238E27FC236}">
                <a16:creationId xmlns:a16="http://schemas.microsoft.com/office/drawing/2014/main" id="{93D3162E-9D7D-D424-8844-CF9E29F8FA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2063" t="74085" r="12064" b="17025"/>
          <a:stretch/>
        </p:blipFill>
        <p:spPr>
          <a:xfrm rot="-5400000">
            <a:off x="4722936" y="2206678"/>
            <a:ext cx="2498368" cy="5707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8443;p60">
            <a:extLst>
              <a:ext uri="{FF2B5EF4-FFF2-40B4-BE49-F238E27FC236}">
                <a16:creationId xmlns:a16="http://schemas.microsoft.com/office/drawing/2014/main" id="{907A9252-3273-4FC4-F493-B964EB8E8390}"/>
              </a:ext>
            </a:extLst>
          </p:cNvPr>
          <p:cNvGrpSpPr/>
          <p:nvPr/>
        </p:nvGrpSpPr>
        <p:grpSpPr>
          <a:xfrm>
            <a:off x="6537277" y="2316912"/>
            <a:ext cx="796169" cy="798287"/>
            <a:chOff x="-2060175" y="2768875"/>
            <a:chExt cx="291450" cy="292225"/>
          </a:xfrm>
          <a:solidFill>
            <a:schemeClr val="accent4">
              <a:lumMod val="75000"/>
            </a:schemeClr>
          </a:solidFill>
        </p:grpSpPr>
        <p:sp>
          <p:nvSpPr>
            <p:cNvPr id="12" name="Google Shape;8444;p60">
              <a:extLst>
                <a:ext uri="{FF2B5EF4-FFF2-40B4-BE49-F238E27FC236}">
                  <a16:creationId xmlns:a16="http://schemas.microsoft.com/office/drawing/2014/main" id="{9B99870C-DB6D-A04D-7869-34BC1674D13E}"/>
                </a:ext>
              </a:extLst>
            </p:cNvPr>
            <p:cNvSpPr/>
            <p:nvPr/>
          </p:nvSpPr>
          <p:spPr>
            <a:xfrm>
              <a:off x="-206017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cubicBezTo>
                    <a:pt x="10996" y="1198"/>
                    <a:pt x="10838" y="1355"/>
                    <a:pt x="10649" y="1355"/>
                  </a:cubicBezTo>
                  <a:lnTo>
                    <a:pt x="1040" y="1355"/>
                  </a:lnTo>
                  <a:cubicBezTo>
                    <a:pt x="851" y="1355"/>
                    <a:pt x="694" y="1198"/>
                    <a:pt x="694" y="1009"/>
                  </a:cubicBez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303" y="2049"/>
                  </a:moveTo>
                  <a:lnTo>
                    <a:pt x="10303" y="7908"/>
                  </a:lnTo>
                  <a:cubicBezTo>
                    <a:pt x="10334" y="8097"/>
                    <a:pt x="10177" y="8255"/>
                    <a:pt x="9988" y="8255"/>
                  </a:cubicBezTo>
                  <a:lnTo>
                    <a:pt x="1702" y="8255"/>
                  </a:lnTo>
                  <a:cubicBezTo>
                    <a:pt x="1513" y="8255"/>
                    <a:pt x="1355" y="8097"/>
                    <a:pt x="1355" y="7908"/>
                  </a:cubicBezTo>
                  <a:lnTo>
                    <a:pt x="1355" y="2049"/>
                  </a:lnTo>
                  <a:close/>
                  <a:moveTo>
                    <a:pt x="5797" y="10271"/>
                  </a:moveTo>
                  <a:cubicBezTo>
                    <a:pt x="5986" y="10271"/>
                    <a:pt x="6144" y="10429"/>
                    <a:pt x="6144" y="10618"/>
                  </a:cubicBezTo>
                  <a:cubicBezTo>
                    <a:pt x="6144" y="10807"/>
                    <a:pt x="5986" y="10964"/>
                    <a:pt x="5797" y="10964"/>
                  </a:cubicBezTo>
                  <a:cubicBezTo>
                    <a:pt x="5608" y="10964"/>
                    <a:pt x="5451" y="10807"/>
                    <a:pt x="5451" y="10618"/>
                  </a:cubicBezTo>
                  <a:cubicBezTo>
                    <a:pt x="5451" y="10429"/>
                    <a:pt x="5608" y="10271"/>
                    <a:pt x="5797" y="10271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09"/>
                  </a:cubicBezTo>
                  <a:cubicBezTo>
                    <a:pt x="1" y="1450"/>
                    <a:pt x="284" y="1828"/>
                    <a:pt x="694" y="1986"/>
                  </a:cubicBezTo>
                  <a:lnTo>
                    <a:pt x="694" y="7908"/>
                  </a:lnTo>
                  <a:cubicBezTo>
                    <a:pt x="694" y="8444"/>
                    <a:pt x="1166" y="8917"/>
                    <a:pt x="1702" y="8917"/>
                  </a:cubicBezTo>
                  <a:lnTo>
                    <a:pt x="5482" y="8917"/>
                  </a:lnTo>
                  <a:lnTo>
                    <a:pt x="5482" y="9673"/>
                  </a:lnTo>
                  <a:cubicBezTo>
                    <a:pt x="5104" y="9830"/>
                    <a:pt x="4821" y="10177"/>
                    <a:pt x="4821" y="10649"/>
                  </a:cubicBezTo>
                  <a:cubicBezTo>
                    <a:pt x="4821" y="11216"/>
                    <a:pt x="5293" y="11689"/>
                    <a:pt x="5829" y="11689"/>
                  </a:cubicBezTo>
                  <a:cubicBezTo>
                    <a:pt x="6396" y="11689"/>
                    <a:pt x="6869" y="11216"/>
                    <a:pt x="6869" y="10649"/>
                  </a:cubicBezTo>
                  <a:cubicBezTo>
                    <a:pt x="6869" y="10240"/>
                    <a:pt x="6585" y="9830"/>
                    <a:pt x="6207" y="9673"/>
                  </a:cubicBezTo>
                  <a:lnTo>
                    <a:pt x="6207" y="8917"/>
                  </a:lnTo>
                  <a:lnTo>
                    <a:pt x="10019" y="8917"/>
                  </a:lnTo>
                  <a:cubicBezTo>
                    <a:pt x="10555" y="8917"/>
                    <a:pt x="11027" y="8444"/>
                    <a:pt x="11027" y="7908"/>
                  </a:cubicBezTo>
                  <a:lnTo>
                    <a:pt x="11027" y="1986"/>
                  </a:lnTo>
                  <a:cubicBezTo>
                    <a:pt x="11405" y="1828"/>
                    <a:pt x="11657" y="1450"/>
                    <a:pt x="11657" y="1009"/>
                  </a:cubicBezTo>
                  <a:cubicBezTo>
                    <a:pt x="11657" y="473"/>
                    <a:pt x="11185" y="1"/>
                    <a:pt x="106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445;p60">
              <a:extLst>
                <a:ext uri="{FF2B5EF4-FFF2-40B4-BE49-F238E27FC236}">
                  <a16:creationId xmlns:a16="http://schemas.microsoft.com/office/drawing/2014/main" id="{2CBEC62F-16E6-6CC2-2B3E-40306B22195D}"/>
                </a:ext>
              </a:extLst>
            </p:cNvPr>
            <p:cNvSpPr/>
            <p:nvPr/>
          </p:nvSpPr>
          <p:spPr>
            <a:xfrm>
              <a:off x="-2008975" y="2855525"/>
              <a:ext cx="189050" cy="84500"/>
            </a:xfrm>
            <a:custGeom>
              <a:avLst/>
              <a:gdLst/>
              <a:ahLst/>
              <a:cxnLst/>
              <a:rect l="l" t="t" r="r" b="b"/>
              <a:pathLst>
                <a:path w="7562" h="3380" extrusionOk="0">
                  <a:moveTo>
                    <a:pt x="6553" y="0"/>
                  </a:moveTo>
                  <a:cubicBezTo>
                    <a:pt x="6144" y="0"/>
                    <a:pt x="6081" y="504"/>
                    <a:pt x="6427" y="662"/>
                  </a:cubicBezTo>
                  <a:lnTo>
                    <a:pt x="4474" y="2584"/>
                  </a:lnTo>
                  <a:lnTo>
                    <a:pt x="2647" y="788"/>
                  </a:lnTo>
                  <a:cubicBezTo>
                    <a:pt x="2584" y="725"/>
                    <a:pt x="2497" y="693"/>
                    <a:pt x="2410" y="693"/>
                  </a:cubicBezTo>
                  <a:cubicBezTo>
                    <a:pt x="2324" y="693"/>
                    <a:pt x="2237" y="725"/>
                    <a:pt x="2174" y="788"/>
                  </a:cubicBezTo>
                  <a:lnTo>
                    <a:pt x="126" y="2836"/>
                  </a:lnTo>
                  <a:cubicBezTo>
                    <a:pt x="0" y="2930"/>
                    <a:pt x="0" y="3182"/>
                    <a:pt x="126" y="3308"/>
                  </a:cubicBezTo>
                  <a:cubicBezTo>
                    <a:pt x="189" y="3356"/>
                    <a:pt x="276" y="3379"/>
                    <a:pt x="363" y="3379"/>
                  </a:cubicBezTo>
                  <a:cubicBezTo>
                    <a:pt x="449" y="3379"/>
                    <a:pt x="536" y="3356"/>
                    <a:pt x="599" y="3308"/>
                  </a:cubicBezTo>
                  <a:lnTo>
                    <a:pt x="2426" y="1481"/>
                  </a:lnTo>
                  <a:lnTo>
                    <a:pt x="4222" y="3308"/>
                  </a:lnTo>
                  <a:cubicBezTo>
                    <a:pt x="4285" y="3356"/>
                    <a:pt x="4372" y="3379"/>
                    <a:pt x="4458" y="3379"/>
                  </a:cubicBezTo>
                  <a:cubicBezTo>
                    <a:pt x="4545" y="3379"/>
                    <a:pt x="4632" y="3356"/>
                    <a:pt x="4695" y="3308"/>
                  </a:cubicBezTo>
                  <a:lnTo>
                    <a:pt x="6900" y="1134"/>
                  </a:lnTo>
                  <a:cubicBezTo>
                    <a:pt x="6931" y="1260"/>
                    <a:pt x="7057" y="1355"/>
                    <a:pt x="7215" y="1355"/>
                  </a:cubicBezTo>
                  <a:cubicBezTo>
                    <a:pt x="7404" y="1355"/>
                    <a:pt x="7562" y="1197"/>
                    <a:pt x="7562" y="1008"/>
                  </a:cubicBezTo>
                  <a:lnTo>
                    <a:pt x="7562" y="347"/>
                  </a:lnTo>
                  <a:cubicBezTo>
                    <a:pt x="7562" y="158"/>
                    <a:pt x="7467" y="0"/>
                    <a:pt x="72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4803;p52">
            <a:extLst>
              <a:ext uri="{FF2B5EF4-FFF2-40B4-BE49-F238E27FC236}">
                <a16:creationId xmlns:a16="http://schemas.microsoft.com/office/drawing/2014/main" id="{1675EE4E-F73C-94A3-6AAA-00AE4E3D4EB8}"/>
              </a:ext>
            </a:extLst>
          </p:cNvPr>
          <p:cNvGrpSpPr/>
          <p:nvPr/>
        </p:nvGrpSpPr>
        <p:grpSpPr>
          <a:xfrm>
            <a:off x="925634" y="2316912"/>
            <a:ext cx="769671" cy="769732"/>
            <a:chOff x="-63252250" y="1930850"/>
            <a:chExt cx="319000" cy="3190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5" name="Google Shape;4804;p52">
              <a:extLst>
                <a:ext uri="{FF2B5EF4-FFF2-40B4-BE49-F238E27FC236}">
                  <a16:creationId xmlns:a16="http://schemas.microsoft.com/office/drawing/2014/main" id="{3B4426DD-85C5-E01C-5249-B3C42D10E0E9}"/>
                </a:ext>
              </a:extLst>
            </p:cNvPr>
            <p:cNvSpPr/>
            <p:nvPr/>
          </p:nvSpPr>
          <p:spPr>
            <a:xfrm>
              <a:off x="-63252250" y="1930850"/>
              <a:ext cx="319000" cy="319025"/>
            </a:xfrm>
            <a:custGeom>
              <a:avLst/>
              <a:gdLst/>
              <a:ahLst/>
              <a:cxnLst/>
              <a:rect l="l" t="t" r="r" b="b"/>
              <a:pathLst>
                <a:path w="12760" h="12761" extrusionOk="0">
                  <a:moveTo>
                    <a:pt x="7026" y="914"/>
                  </a:moveTo>
                  <a:lnTo>
                    <a:pt x="7026" y="1954"/>
                  </a:lnTo>
                  <a:cubicBezTo>
                    <a:pt x="7026" y="2174"/>
                    <a:pt x="7120" y="2332"/>
                    <a:pt x="7341" y="2363"/>
                  </a:cubicBezTo>
                  <a:cubicBezTo>
                    <a:pt x="7813" y="2489"/>
                    <a:pt x="8286" y="2647"/>
                    <a:pt x="8664" y="2899"/>
                  </a:cubicBezTo>
                  <a:cubicBezTo>
                    <a:pt x="8733" y="2954"/>
                    <a:pt x="8820" y="2979"/>
                    <a:pt x="8905" y="2979"/>
                  </a:cubicBezTo>
                  <a:cubicBezTo>
                    <a:pt x="9012" y="2979"/>
                    <a:pt x="9115" y="2938"/>
                    <a:pt x="9168" y="2868"/>
                  </a:cubicBezTo>
                  <a:lnTo>
                    <a:pt x="9924" y="2111"/>
                  </a:lnTo>
                  <a:lnTo>
                    <a:pt x="10712" y="2899"/>
                  </a:lnTo>
                  <a:lnTo>
                    <a:pt x="9956" y="3655"/>
                  </a:lnTo>
                  <a:cubicBezTo>
                    <a:pt x="9861" y="3781"/>
                    <a:pt x="9798" y="4002"/>
                    <a:pt x="9924" y="4159"/>
                  </a:cubicBezTo>
                  <a:cubicBezTo>
                    <a:pt x="10208" y="4600"/>
                    <a:pt x="10397" y="5041"/>
                    <a:pt x="10460" y="5514"/>
                  </a:cubicBezTo>
                  <a:cubicBezTo>
                    <a:pt x="10523" y="5703"/>
                    <a:pt x="10680" y="5829"/>
                    <a:pt x="10869" y="5829"/>
                  </a:cubicBezTo>
                  <a:lnTo>
                    <a:pt x="11941" y="5829"/>
                  </a:lnTo>
                  <a:lnTo>
                    <a:pt x="11941" y="6932"/>
                  </a:lnTo>
                  <a:lnTo>
                    <a:pt x="10869" y="6932"/>
                  </a:lnTo>
                  <a:cubicBezTo>
                    <a:pt x="10680" y="6932"/>
                    <a:pt x="10523" y="7058"/>
                    <a:pt x="10460" y="7247"/>
                  </a:cubicBezTo>
                  <a:cubicBezTo>
                    <a:pt x="10365" y="7719"/>
                    <a:pt x="10208" y="8192"/>
                    <a:pt x="9924" y="8570"/>
                  </a:cubicBezTo>
                  <a:cubicBezTo>
                    <a:pt x="9798" y="8727"/>
                    <a:pt x="9861" y="8979"/>
                    <a:pt x="9956" y="9105"/>
                  </a:cubicBezTo>
                  <a:lnTo>
                    <a:pt x="10712" y="9830"/>
                  </a:lnTo>
                  <a:lnTo>
                    <a:pt x="9924" y="10618"/>
                  </a:lnTo>
                  <a:lnTo>
                    <a:pt x="9168" y="9893"/>
                  </a:lnTo>
                  <a:cubicBezTo>
                    <a:pt x="9111" y="9817"/>
                    <a:pt x="8996" y="9775"/>
                    <a:pt x="8879" y="9775"/>
                  </a:cubicBezTo>
                  <a:cubicBezTo>
                    <a:pt x="8803" y="9775"/>
                    <a:pt x="8726" y="9793"/>
                    <a:pt x="8664" y="9830"/>
                  </a:cubicBezTo>
                  <a:cubicBezTo>
                    <a:pt x="8223" y="10114"/>
                    <a:pt x="7813" y="10303"/>
                    <a:pt x="7341" y="10397"/>
                  </a:cubicBezTo>
                  <a:cubicBezTo>
                    <a:pt x="7120" y="10429"/>
                    <a:pt x="7026" y="10586"/>
                    <a:pt x="7026" y="10775"/>
                  </a:cubicBezTo>
                  <a:lnTo>
                    <a:pt x="7026" y="11846"/>
                  </a:lnTo>
                  <a:lnTo>
                    <a:pt x="5923" y="11846"/>
                  </a:lnTo>
                  <a:lnTo>
                    <a:pt x="5923" y="10775"/>
                  </a:lnTo>
                  <a:cubicBezTo>
                    <a:pt x="5923" y="10586"/>
                    <a:pt x="5797" y="10429"/>
                    <a:pt x="5577" y="10397"/>
                  </a:cubicBezTo>
                  <a:cubicBezTo>
                    <a:pt x="5135" y="10271"/>
                    <a:pt x="4663" y="10114"/>
                    <a:pt x="4253" y="9830"/>
                  </a:cubicBezTo>
                  <a:cubicBezTo>
                    <a:pt x="4191" y="9793"/>
                    <a:pt x="4119" y="9775"/>
                    <a:pt x="4047" y="9775"/>
                  </a:cubicBezTo>
                  <a:cubicBezTo>
                    <a:pt x="3937" y="9775"/>
                    <a:pt x="3826" y="9817"/>
                    <a:pt x="3749" y="9893"/>
                  </a:cubicBezTo>
                  <a:lnTo>
                    <a:pt x="2993" y="10618"/>
                  </a:lnTo>
                  <a:lnTo>
                    <a:pt x="2206" y="9830"/>
                  </a:lnTo>
                  <a:lnTo>
                    <a:pt x="2962" y="9105"/>
                  </a:lnTo>
                  <a:cubicBezTo>
                    <a:pt x="3088" y="8979"/>
                    <a:pt x="3119" y="8727"/>
                    <a:pt x="2993" y="8570"/>
                  </a:cubicBezTo>
                  <a:cubicBezTo>
                    <a:pt x="2710" y="8160"/>
                    <a:pt x="2521" y="7719"/>
                    <a:pt x="2458" y="7247"/>
                  </a:cubicBezTo>
                  <a:cubicBezTo>
                    <a:pt x="2395" y="7058"/>
                    <a:pt x="2237" y="6932"/>
                    <a:pt x="2048" y="6932"/>
                  </a:cubicBezTo>
                  <a:lnTo>
                    <a:pt x="977" y="6932"/>
                  </a:lnTo>
                  <a:lnTo>
                    <a:pt x="977" y="5829"/>
                  </a:lnTo>
                  <a:lnTo>
                    <a:pt x="2048" y="5829"/>
                  </a:lnTo>
                  <a:cubicBezTo>
                    <a:pt x="2237" y="5829"/>
                    <a:pt x="2395" y="5703"/>
                    <a:pt x="2458" y="5514"/>
                  </a:cubicBezTo>
                  <a:cubicBezTo>
                    <a:pt x="2552" y="5041"/>
                    <a:pt x="2710" y="4569"/>
                    <a:pt x="2993" y="4159"/>
                  </a:cubicBezTo>
                  <a:cubicBezTo>
                    <a:pt x="3119" y="4002"/>
                    <a:pt x="3088" y="3781"/>
                    <a:pt x="2962" y="3655"/>
                  </a:cubicBezTo>
                  <a:lnTo>
                    <a:pt x="2206" y="2899"/>
                  </a:lnTo>
                  <a:lnTo>
                    <a:pt x="2993" y="2111"/>
                  </a:lnTo>
                  <a:lnTo>
                    <a:pt x="3749" y="2868"/>
                  </a:lnTo>
                  <a:cubicBezTo>
                    <a:pt x="3820" y="2938"/>
                    <a:pt x="3921" y="2979"/>
                    <a:pt x="4023" y="2979"/>
                  </a:cubicBezTo>
                  <a:cubicBezTo>
                    <a:pt x="4103" y="2979"/>
                    <a:pt x="4184" y="2954"/>
                    <a:pt x="4253" y="2899"/>
                  </a:cubicBezTo>
                  <a:cubicBezTo>
                    <a:pt x="4694" y="2647"/>
                    <a:pt x="5135" y="2426"/>
                    <a:pt x="5577" y="2363"/>
                  </a:cubicBezTo>
                  <a:cubicBezTo>
                    <a:pt x="5797" y="2332"/>
                    <a:pt x="5923" y="2174"/>
                    <a:pt x="5923" y="1954"/>
                  </a:cubicBezTo>
                  <a:lnTo>
                    <a:pt x="5923" y="914"/>
                  </a:lnTo>
                  <a:close/>
                  <a:moveTo>
                    <a:pt x="5829" y="1"/>
                  </a:moveTo>
                  <a:cubicBezTo>
                    <a:pt x="5356" y="1"/>
                    <a:pt x="5009" y="347"/>
                    <a:pt x="5009" y="820"/>
                  </a:cubicBezTo>
                  <a:lnTo>
                    <a:pt x="5009" y="1576"/>
                  </a:lnTo>
                  <a:cubicBezTo>
                    <a:pt x="4631" y="1702"/>
                    <a:pt x="4285" y="1796"/>
                    <a:pt x="3970" y="2017"/>
                  </a:cubicBezTo>
                  <a:lnTo>
                    <a:pt x="3466" y="1481"/>
                  </a:lnTo>
                  <a:cubicBezTo>
                    <a:pt x="3308" y="1324"/>
                    <a:pt x="3103" y="1245"/>
                    <a:pt x="2891" y="1245"/>
                  </a:cubicBezTo>
                  <a:cubicBezTo>
                    <a:pt x="2678" y="1245"/>
                    <a:pt x="2458" y="1324"/>
                    <a:pt x="2269" y="1481"/>
                  </a:cubicBezTo>
                  <a:lnTo>
                    <a:pt x="1481" y="2269"/>
                  </a:lnTo>
                  <a:cubicBezTo>
                    <a:pt x="1166" y="2584"/>
                    <a:pt x="1166" y="3120"/>
                    <a:pt x="1481" y="3466"/>
                  </a:cubicBezTo>
                  <a:lnTo>
                    <a:pt x="2017" y="3970"/>
                  </a:lnTo>
                  <a:cubicBezTo>
                    <a:pt x="1796" y="4285"/>
                    <a:pt x="1701" y="4632"/>
                    <a:pt x="1575" y="5010"/>
                  </a:cubicBezTo>
                  <a:lnTo>
                    <a:pt x="819" y="5010"/>
                  </a:lnTo>
                  <a:cubicBezTo>
                    <a:pt x="347" y="5010"/>
                    <a:pt x="0" y="5356"/>
                    <a:pt x="0" y="5829"/>
                  </a:cubicBezTo>
                  <a:lnTo>
                    <a:pt x="0" y="6932"/>
                  </a:lnTo>
                  <a:cubicBezTo>
                    <a:pt x="0" y="7404"/>
                    <a:pt x="347" y="7751"/>
                    <a:pt x="819" y="7751"/>
                  </a:cubicBezTo>
                  <a:lnTo>
                    <a:pt x="1575" y="7751"/>
                  </a:lnTo>
                  <a:cubicBezTo>
                    <a:pt x="1701" y="8097"/>
                    <a:pt x="1796" y="8475"/>
                    <a:pt x="2017" y="8759"/>
                  </a:cubicBezTo>
                  <a:lnTo>
                    <a:pt x="1481" y="9295"/>
                  </a:lnTo>
                  <a:cubicBezTo>
                    <a:pt x="1166" y="9610"/>
                    <a:pt x="1166" y="10114"/>
                    <a:pt x="1481" y="10460"/>
                  </a:cubicBezTo>
                  <a:lnTo>
                    <a:pt x="2269" y="11248"/>
                  </a:lnTo>
                  <a:cubicBezTo>
                    <a:pt x="2426" y="11405"/>
                    <a:pt x="2639" y="11484"/>
                    <a:pt x="2855" y="11484"/>
                  </a:cubicBezTo>
                  <a:cubicBezTo>
                    <a:pt x="3072" y="11484"/>
                    <a:pt x="3292" y="11405"/>
                    <a:pt x="3466" y="11248"/>
                  </a:cubicBezTo>
                  <a:lnTo>
                    <a:pt x="3970" y="10744"/>
                  </a:lnTo>
                  <a:cubicBezTo>
                    <a:pt x="4285" y="10933"/>
                    <a:pt x="4631" y="11059"/>
                    <a:pt x="5009" y="11185"/>
                  </a:cubicBezTo>
                  <a:lnTo>
                    <a:pt x="5009" y="11909"/>
                  </a:lnTo>
                  <a:cubicBezTo>
                    <a:pt x="5009" y="12382"/>
                    <a:pt x="5356" y="12760"/>
                    <a:pt x="5829" y="12760"/>
                  </a:cubicBezTo>
                  <a:lnTo>
                    <a:pt x="6931" y="12760"/>
                  </a:lnTo>
                  <a:cubicBezTo>
                    <a:pt x="7404" y="12760"/>
                    <a:pt x="7750" y="12382"/>
                    <a:pt x="7750" y="11909"/>
                  </a:cubicBezTo>
                  <a:lnTo>
                    <a:pt x="7750" y="11185"/>
                  </a:lnTo>
                  <a:cubicBezTo>
                    <a:pt x="8097" y="11059"/>
                    <a:pt x="8475" y="10933"/>
                    <a:pt x="8790" y="10744"/>
                  </a:cubicBezTo>
                  <a:lnTo>
                    <a:pt x="9294" y="11248"/>
                  </a:lnTo>
                  <a:cubicBezTo>
                    <a:pt x="9452" y="11405"/>
                    <a:pt x="9656" y="11484"/>
                    <a:pt x="9865" y="11484"/>
                  </a:cubicBezTo>
                  <a:cubicBezTo>
                    <a:pt x="10074" y="11484"/>
                    <a:pt x="10287" y="11405"/>
                    <a:pt x="10460" y="11248"/>
                  </a:cubicBezTo>
                  <a:lnTo>
                    <a:pt x="11247" y="10460"/>
                  </a:lnTo>
                  <a:cubicBezTo>
                    <a:pt x="11563" y="10145"/>
                    <a:pt x="11563" y="9641"/>
                    <a:pt x="11247" y="9295"/>
                  </a:cubicBezTo>
                  <a:lnTo>
                    <a:pt x="10743" y="8759"/>
                  </a:lnTo>
                  <a:cubicBezTo>
                    <a:pt x="10932" y="8444"/>
                    <a:pt x="11058" y="8097"/>
                    <a:pt x="11184" y="7751"/>
                  </a:cubicBezTo>
                  <a:lnTo>
                    <a:pt x="11941" y="7751"/>
                  </a:lnTo>
                  <a:cubicBezTo>
                    <a:pt x="12413" y="7751"/>
                    <a:pt x="12760" y="7404"/>
                    <a:pt x="12760" y="6932"/>
                  </a:cubicBezTo>
                  <a:lnTo>
                    <a:pt x="12760" y="5829"/>
                  </a:lnTo>
                  <a:cubicBezTo>
                    <a:pt x="12760" y="5356"/>
                    <a:pt x="12350" y="5010"/>
                    <a:pt x="11941" y="5010"/>
                  </a:cubicBezTo>
                  <a:lnTo>
                    <a:pt x="11184" y="5010"/>
                  </a:lnTo>
                  <a:cubicBezTo>
                    <a:pt x="11058" y="4632"/>
                    <a:pt x="10932" y="4285"/>
                    <a:pt x="10743" y="3970"/>
                  </a:cubicBezTo>
                  <a:lnTo>
                    <a:pt x="11247" y="3466"/>
                  </a:lnTo>
                  <a:cubicBezTo>
                    <a:pt x="11563" y="3151"/>
                    <a:pt x="11563" y="2647"/>
                    <a:pt x="11247" y="2269"/>
                  </a:cubicBezTo>
                  <a:lnTo>
                    <a:pt x="10460" y="1481"/>
                  </a:lnTo>
                  <a:cubicBezTo>
                    <a:pt x="10302" y="1324"/>
                    <a:pt x="10098" y="1245"/>
                    <a:pt x="9889" y="1245"/>
                  </a:cubicBezTo>
                  <a:cubicBezTo>
                    <a:pt x="9680" y="1245"/>
                    <a:pt x="9467" y="1324"/>
                    <a:pt x="9294" y="1481"/>
                  </a:cubicBezTo>
                  <a:lnTo>
                    <a:pt x="8790" y="2017"/>
                  </a:lnTo>
                  <a:cubicBezTo>
                    <a:pt x="8475" y="1796"/>
                    <a:pt x="8097" y="1702"/>
                    <a:pt x="7750" y="1576"/>
                  </a:cubicBezTo>
                  <a:lnTo>
                    <a:pt x="7750" y="820"/>
                  </a:lnTo>
                  <a:cubicBezTo>
                    <a:pt x="7750" y="347"/>
                    <a:pt x="7404" y="1"/>
                    <a:pt x="6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805;p52">
              <a:extLst>
                <a:ext uri="{FF2B5EF4-FFF2-40B4-BE49-F238E27FC236}">
                  <a16:creationId xmlns:a16="http://schemas.microsoft.com/office/drawing/2014/main" id="{F1F88337-F94D-57D7-A867-13EA02884BB6}"/>
                </a:ext>
              </a:extLst>
            </p:cNvPr>
            <p:cNvSpPr/>
            <p:nvPr/>
          </p:nvSpPr>
          <p:spPr>
            <a:xfrm>
              <a:off x="-63160900" y="2021425"/>
              <a:ext cx="137850" cy="137850"/>
            </a:xfrm>
            <a:custGeom>
              <a:avLst/>
              <a:gdLst/>
              <a:ahLst/>
              <a:cxnLst/>
              <a:rect l="l" t="t" r="r" b="b"/>
              <a:pathLst>
                <a:path w="5514" h="5514" extrusionOk="0">
                  <a:moveTo>
                    <a:pt x="2773" y="820"/>
                  </a:moveTo>
                  <a:cubicBezTo>
                    <a:pt x="3813" y="820"/>
                    <a:pt x="4695" y="1702"/>
                    <a:pt x="4695" y="2742"/>
                  </a:cubicBezTo>
                  <a:cubicBezTo>
                    <a:pt x="4695" y="3813"/>
                    <a:pt x="3813" y="4695"/>
                    <a:pt x="2773" y="4695"/>
                  </a:cubicBezTo>
                  <a:cubicBezTo>
                    <a:pt x="1702" y="4695"/>
                    <a:pt x="820" y="3813"/>
                    <a:pt x="820" y="2742"/>
                  </a:cubicBezTo>
                  <a:cubicBezTo>
                    <a:pt x="820" y="1702"/>
                    <a:pt x="1702" y="820"/>
                    <a:pt x="2773" y="820"/>
                  </a:cubicBezTo>
                  <a:close/>
                  <a:moveTo>
                    <a:pt x="2773" y="1"/>
                  </a:moveTo>
                  <a:cubicBezTo>
                    <a:pt x="1229" y="1"/>
                    <a:pt x="1" y="1198"/>
                    <a:pt x="1" y="2742"/>
                  </a:cubicBezTo>
                  <a:cubicBezTo>
                    <a:pt x="1" y="4285"/>
                    <a:pt x="1229" y="5514"/>
                    <a:pt x="2773" y="5514"/>
                  </a:cubicBezTo>
                  <a:cubicBezTo>
                    <a:pt x="4285" y="5514"/>
                    <a:pt x="5514" y="4285"/>
                    <a:pt x="5514" y="2742"/>
                  </a:cubicBezTo>
                  <a:cubicBezTo>
                    <a:pt x="5514" y="1229"/>
                    <a:pt x="4254" y="1"/>
                    <a:pt x="27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8397;p60">
            <a:extLst>
              <a:ext uri="{FF2B5EF4-FFF2-40B4-BE49-F238E27FC236}">
                <a16:creationId xmlns:a16="http://schemas.microsoft.com/office/drawing/2014/main" id="{3ADD4404-8CD8-6D2E-1DFC-61A4C2662363}"/>
              </a:ext>
            </a:extLst>
          </p:cNvPr>
          <p:cNvGrpSpPr/>
          <p:nvPr/>
        </p:nvGrpSpPr>
        <p:grpSpPr>
          <a:xfrm>
            <a:off x="962822" y="4284793"/>
            <a:ext cx="737981" cy="734004"/>
            <a:chOff x="-4211975" y="2046625"/>
            <a:chExt cx="292250" cy="290675"/>
          </a:xfrm>
          <a:solidFill>
            <a:schemeClr val="accent2"/>
          </a:solidFill>
        </p:grpSpPr>
        <p:sp>
          <p:nvSpPr>
            <p:cNvPr id="18" name="Google Shape;8398;p60">
              <a:extLst>
                <a:ext uri="{FF2B5EF4-FFF2-40B4-BE49-F238E27FC236}">
                  <a16:creationId xmlns:a16="http://schemas.microsoft.com/office/drawing/2014/main" id="{23F64F0E-30C8-3734-5E85-B4532061CA75}"/>
                </a:ext>
              </a:extLst>
            </p:cNvPr>
            <p:cNvSpPr/>
            <p:nvPr/>
          </p:nvSpPr>
          <p:spPr>
            <a:xfrm>
              <a:off x="-4211975" y="2081300"/>
              <a:ext cx="256025" cy="256000"/>
            </a:xfrm>
            <a:custGeom>
              <a:avLst/>
              <a:gdLst/>
              <a:ahLst/>
              <a:cxnLst/>
              <a:rect l="l" t="t" r="r" b="b"/>
              <a:pathLst>
                <a:path w="10241" h="10240" extrusionOk="0">
                  <a:moveTo>
                    <a:pt x="4758" y="693"/>
                  </a:moveTo>
                  <a:lnTo>
                    <a:pt x="4758" y="5167"/>
                  </a:lnTo>
                  <a:cubicBezTo>
                    <a:pt x="4758" y="5356"/>
                    <a:pt x="4916" y="5513"/>
                    <a:pt x="5105" y="5513"/>
                  </a:cubicBezTo>
                  <a:lnTo>
                    <a:pt x="9578" y="5513"/>
                  </a:lnTo>
                  <a:cubicBezTo>
                    <a:pt x="9358" y="7813"/>
                    <a:pt x="7436" y="9609"/>
                    <a:pt x="5105" y="9609"/>
                  </a:cubicBezTo>
                  <a:cubicBezTo>
                    <a:pt x="2679" y="9609"/>
                    <a:pt x="663" y="7593"/>
                    <a:pt x="663" y="5167"/>
                  </a:cubicBezTo>
                  <a:cubicBezTo>
                    <a:pt x="663" y="2835"/>
                    <a:pt x="2490" y="914"/>
                    <a:pt x="4758" y="693"/>
                  </a:cubicBezTo>
                  <a:close/>
                  <a:moveTo>
                    <a:pt x="5105" y="0"/>
                  </a:moveTo>
                  <a:cubicBezTo>
                    <a:pt x="2269" y="0"/>
                    <a:pt x="1" y="2300"/>
                    <a:pt x="1" y="5104"/>
                  </a:cubicBezTo>
                  <a:cubicBezTo>
                    <a:pt x="1" y="7939"/>
                    <a:pt x="2269" y="10239"/>
                    <a:pt x="5105" y="10239"/>
                  </a:cubicBezTo>
                  <a:cubicBezTo>
                    <a:pt x="7940" y="10239"/>
                    <a:pt x="10240" y="7939"/>
                    <a:pt x="10240" y="5104"/>
                  </a:cubicBezTo>
                  <a:cubicBezTo>
                    <a:pt x="10240" y="4978"/>
                    <a:pt x="10083" y="4820"/>
                    <a:pt x="9925" y="4820"/>
                  </a:cubicBezTo>
                  <a:lnTo>
                    <a:pt x="5483" y="4820"/>
                  </a:lnTo>
                  <a:lnTo>
                    <a:pt x="5483" y="347"/>
                  </a:lnTo>
                  <a:cubicBezTo>
                    <a:pt x="5483" y="158"/>
                    <a:pt x="5325" y="0"/>
                    <a:pt x="5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399;p60">
              <a:extLst>
                <a:ext uri="{FF2B5EF4-FFF2-40B4-BE49-F238E27FC236}">
                  <a16:creationId xmlns:a16="http://schemas.microsoft.com/office/drawing/2014/main" id="{2767DA5C-5FA5-09C6-9111-C8625A4AD593}"/>
                </a:ext>
              </a:extLst>
            </p:cNvPr>
            <p:cNvSpPr/>
            <p:nvPr/>
          </p:nvSpPr>
          <p:spPr>
            <a:xfrm>
              <a:off x="-4057600" y="2046625"/>
              <a:ext cx="137875" cy="137875"/>
            </a:xfrm>
            <a:custGeom>
              <a:avLst/>
              <a:gdLst/>
              <a:ahLst/>
              <a:cxnLst/>
              <a:rect l="l" t="t" r="r" b="b"/>
              <a:pathLst>
                <a:path w="5515" h="5515" extrusionOk="0">
                  <a:moveTo>
                    <a:pt x="663" y="694"/>
                  </a:moveTo>
                  <a:cubicBezTo>
                    <a:pt x="2836" y="851"/>
                    <a:pt x="4601" y="2616"/>
                    <a:pt x="4758" y="4790"/>
                  </a:cubicBezTo>
                  <a:lnTo>
                    <a:pt x="663" y="4790"/>
                  </a:lnTo>
                  <a:lnTo>
                    <a:pt x="663" y="694"/>
                  </a:lnTo>
                  <a:close/>
                  <a:moveTo>
                    <a:pt x="348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5168"/>
                  </a:lnTo>
                  <a:cubicBezTo>
                    <a:pt x="1" y="5357"/>
                    <a:pt x="158" y="5514"/>
                    <a:pt x="348" y="5514"/>
                  </a:cubicBezTo>
                  <a:lnTo>
                    <a:pt x="5168" y="5514"/>
                  </a:lnTo>
                  <a:cubicBezTo>
                    <a:pt x="5357" y="5514"/>
                    <a:pt x="5514" y="5357"/>
                    <a:pt x="5514" y="5168"/>
                  </a:cubicBezTo>
                  <a:cubicBezTo>
                    <a:pt x="5483" y="3750"/>
                    <a:pt x="4979" y="2490"/>
                    <a:pt x="3971" y="1513"/>
                  </a:cubicBezTo>
                  <a:cubicBezTo>
                    <a:pt x="2994" y="536"/>
                    <a:pt x="1734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9765A505-2302-7EBF-D6BE-1A0A84AF3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7910"/>
              </p:ext>
            </p:extLst>
          </p:nvPr>
        </p:nvGraphicFramePr>
        <p:xfrm>
          <a:off x="2193502" y="4095535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5939302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0882358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757315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51361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 err="1"/>
                        <a:t>Precision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 err="1"/>
                        <a:t>Recall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044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 err="1"/>
                        <a:t>Isolation</a:t>
                      </a:r>
                      <a:r>
                        <a:rPr lang="es-CL" dirty="0"/>
                        <a:t>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726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 err="1"/>
                        <a:t>Autoencoder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916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189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81074-4F8F-78F4-D08E-534E3F3C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D4A47-8E94-0EE6-3FE1-2BBBA15BC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Visualizaciones cálculo del umbral</a:t>
            </a:r>
          </a:p>
        </p:txBody>
      </p:sp>
      <p:pic>
        <p:nvPicPr>
          <p:cNvPr id="12" name="Imagen 11" descr="Gráfico&#10;&#10;El contenido generado por IA puede ser incorrecto.">
            <a:extLst>
              <a:ext uri="{FF2B5EF4-FFF2-40B4-BE49-F238E27FC236}">
                <a16:creationId xmlns:a16="http://schemas.microsoft.com/office/drawing/2014/main" id="{F37243D0-B5C8-2E4E-9E57-EDF49A76A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56" y="1350982"/>
            <a:ext cx="5511229" cy="3188887"/>
          </a:xfrm>
          <a:prstGeom prst="rect">
            <a:avLst/>
          </a:prstGeom>
        </p:spPr>
      </p:pic>
      <p:pic>
        <p:nvPicPr>
          <p:cNvPr id="14" name="Imagen 13" descr="Gráfico&#10;&#10;El contenido generado por IA puede ser incorrecto.">
            <a:extLst>
              <a:ext uri="{FF2B5EF4-FFF2-40B4-BE49-F238E27FC236}">
                <a16:creationId xmlns:a16="http://schemas.microsoft.com/office/drawing/2014/main" id="{495E72A3-4A1E-DA7D-9FC1-96BDB761D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289" y="1350982"/>
            <a:ext cx="6011756" cy="3291021"/>
          </a:xfrm>
          <a:prstGeom prst="rect">
            <a:avLst/>
          </a:prstGeom>
        </p:spPr>
      </p:pic>
      <p:sp>
        <p:nvSpPr>
          <p:cNvPr id="15" name="Google Shape;3540;p56">
            <a:extLst>
              <a:ext uri="{FF2B5EF4-FFF2-40B4-BE49-F238E27FC236}">
                <a16:creationId xmlns:a16="http://schemas.microsoft.com/office/drawing/2014/main" id="{BB14AF7F-954B-169F-F989-D49A23203C3C}"/>
              </a:ext>
            </a:extLst>
          </p:cNvPr>
          <p:cNvSpPr txBox="1"/>
          <p:nvPr/>
        </p:nvSpPr>
        <p:spPr>
          <a:xfrm>
            <a:off x="3701596" y="5106949"/>
            <a:ext cx="551122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dirty="0">
                <a:solidFill>
                  <a:srgbClr val="606163"/>
                </a:solidFill>
                <a:latin typeface="Play"/>
                <a:sym typeface="Play"/>
              </a:rPr>
              <a:t>Umbral de </a:t>
            </a:r>
            <a:r>
              <a:rPr lang="pt-BR" sz="2000" b="1" dirty="0" err="1">
                <a:solidFill>
                  <a:srgbClr val="606163"/>
                </a:solidFill>
                <a:latin typeface="Play"/>
                <a:sym typeface="Play"/>
              </a:rPr>
              <a:t>Reconstrucción</a:t>
            </a:r>
            <a:r>
              <a:rPr lang="pt-BR" sz="2000" b="1" dirty="0">
                <a:solidFill>
                  <a:srgbClr val="606163"/>
                </a:solidFill>
                <a:latin typeface="Play"/>
                <a:sym typeface="Play"/>
              </a:rPr>
              <a:t> (percentil 95) 0.05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0695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2A18E-5862-C807-8FC1-A6C8F752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05F8C-AE89-6D3E-93F1-DC66CC7B9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Visualizaciones con anomalías detectadas</a:t>
            </a:r>
          </a:p>
        </p:txBody>
      </p:sp>
      <p:sp>
        <p:nvSpPr>
          <p:cNvPr id="6" name="Google Shape;3540;p56">
            <a:extLst>
              <a:ext uri="{FF2B5EF4-FFF2-40B4-BE49-F238E27FC236}">
                <a16:creationId xmlns:a16="http://schemas.microsoft.com/office/drawing/2014/main" id="{6083D031-5AE5-FCF9-2D1F-5F53CCFB85C9}"/>
              </a:ext>
            </a:extLst>
          </p:cNvPr>
          <p:cNvSpPr txBox="1"/>
          <p:nvPr/>
        </p:nvSpPr>
        <p:spPr>
          <a:xfrm>
            <a:off x="2297354" y="1191572"/>
            <a:ext cx="19211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i="0" u="none" strike="noStrike" cap="none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Reconstrucción</a:t>
            </a:r>
            <a:r>
              <a:rPr lang="pt-BR" sz="2000" b="1" i="0" u="none" strike="noStrike" cap="none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Normal</a:t>
            </a:r>
            <a:endParaRPr dirty="0"/>
          </a:p>
        </p:txBody>
      </p:sp>
      <p:sp>
        <p:nvSpPr>
          <p:cNvPr id="8" name="Google Shape;3540;p56">
            <a:extLst>
              <a:ext uri="{FF2B5EF4-FFF2-40B4-BE49-F238E27FC236}">
                <a16:creationId xmlns:a16="http://schemas.microsoft.com/office/drawing/2014/main" id="{29E0ECD3-470B-1DC8-0B72-55A0060A6A48}"/>
              </a:ext>
            </a:extLst>
          </p:cNvPr>
          <p:cNvSpPr txBox="1"/>
          <p:nvPr/>
        </p:nvSpPr>
        <p:spPr>
          <a:xfrm>
            <a:off x="7885056" y="1193441"/>
            <a:ext cx="19211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dirty="0" err="1">
                <a:solidFill>
                  <a:srgbClr val="606163"/>
                </a:solidFill>
                <a:latin typeface="Play"/>
                <a:sym typeface="Play"/>
              </a:rPr>
              <a:t>Reconstrucción</a:t>
            </a:r>
            <a:r>
              <a:rPr lang="pt-BR" sz="2000" b="1" dirty="0">
                <a:solidFill>
                  <a:srgbClr val="606163"/>
                </a:solidFill>
                <a:latin typeface="Play"/>
                <a:sym typeface="Play"/>
              </a:rPr>
              <a:t> Anómala</a:t>
            </a:r>
            <a:endParaRPr dirty="0"/>
          </a:p>
        </p:txBody>
      </p:sp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6510A990-C7FD-18FB-445A-4E5E8FFF1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82" y="2013556"/>
            <a:ext cx="5637873" cy="2646933"/>
          </a:xfrm>
          <a:prstGeom prst="rect">
            <a:avLst/>
          </a:prstGeom>
        </p:spPr>
      </p:pic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762F46A6-FFF5-2CBB-8BF2-8F3488414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044" y="2013556"/>
            <a:ext cx="5893125" cy="277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947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35482-91BB-15F7-F312-566D16D35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2A2F5F-ABAA-AE18-3A58-B395800F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Comparaciones</a:t>
            </a:r>
          </a:p>
        </p:txBody>
      </p:sp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90B51392-174E-BA08-F667-0BB5D9985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77" y="1077433"/>
            <a:ext cx="11802045" cy="409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2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2208C-63CF-2EA6-72F6-6F0E534CC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F8242-5534-50A1-B78F-F2E5E0F79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8635" y="889976"/>
            <a:ext cx="4792875" cy="1192005"/>
          </a:xfrm>
        </p:spPr>
        <p:txBody>
          <a:bodyPr/>
          <a:lstStyle/>
          <a:p>
            <a:r>
              <a:rPr lang="es-CL" dirty="0"/>
              <a:t>Conclusiones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77FBB485-756F-FCE5-DA37-C7AE9B926C73}"/>
              </a:ext>
            </a:extLst>
          </p:cNvPr>
          <p:cNvSpPr txBox="1">
            <a:spLocks/>
          </p:cNvSpPr>
          <p:nvPr/>
        </p:nvSpPr>
        <p:spPr>
          <a:xfrm>
            <a:off x="2525500" y="1887795"/>
            <a:ext cx="7139610" cy="408023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lang="es-MX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Autoencoder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LSTM no obtiene mejores métricas que </a:t>
            </a:r>
            <a:r>
              <a:rPr lang="es-MX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Isolation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Forest.</a:t>
            </a:r>
          </a:p>
          <a:p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métodos clásicos funcionan como </a:t>
            </a:r>
            <a:r>
              <a:rPr lang="es-MX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pero no capturan dependencias temporales.</a:t>
            </a:r>
          </a:p>
          <a:p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error de reconstrucción permite interpretar visualmente las anomalías.</a:t>
            </a:r>
          </a:p>
          <a:p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normalización y el umbral influyen fuertemente en el desempeño.</a:t>
            </a:r>
          </a:p>
          <a:p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modelos profundos son más adecuados para series complejas, aunque requieren más recursos.</a:t>
            </a:r>
          </a:p>
        </p:txBody>
      </p:sp>
    </p:spTree>
    <p:extLst>
      <p:ext uri="{BB962C8B-B14F-4D97-AF65-F5344CB8AC3E}">
        <p14:creationId xmlns:p14="http://schemas.microsoft.com/office/powerpoint/2010/main" val="2606980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56466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USS 1">
      <a:dk1>
        <a:srgbClr val="000000"/>
      </a:dk1>
      <a:lt1>
        <a:srgbClr val="FFFFFF"/>
      </a:lt1>
      <a:dk2>
        <a:srgbClr val="052A4A"/>
      </a:dk2>
      <a:lt2>
        <a:srgbClr val="ACCBF9"/>
      </a:lt2>
      <a:accent1>
        <a:srgbClr val="4A66AC"/>
      </a:accent1>
      <a:accent2>
        <a:srgbClr val="49769E"/>
      </a:accent2>
      <a:accent3>
        <a:srgbClr val="297FD5"/>
      </a:accent3>
      <a:accent4>
        <a:srgbClr val="5F86A9"/>
      </a:accent4>
      <a:accent5>
        <a:srgbClr val="00949D"/>
      </a:accent5>
      <a:accent6>
        <a:srgbClr val="8689A0"/>
      </a:accent6>
      <a:hlink>
        <a:srgbClr val="2A37C4"/>
      </a:hlink>
      <a:folHlink>
        <a:srgbClr val="00A7F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509FA3A39657C40AFC0F8306931B1B0" ma:contentTypeVersion="14" ma:contentTypeDescription="Crear nuevo documento." ma:contentTypeScope="" ma:versionID="f9ec264a2873d1824ab8ac9ce2922d53">
  <xsd:schema xmlns:xsd="http://www.w3.org/2001/XMLSchema" xmlns:xs="http://www.w3.org/2001/XMLSchema" xmlns:p="http://schemas.microsoft.com/office/2006/metadata/properties" xmlns:ns2="cce4e3ee-c2a2-4c7a-918b-b127e3132eda" xmlns:ns3="2e5e97ba-1964-4273-b2a7-681533174bc3" targetNamespace="http://schemas.microsoft.com/office/2006/metadata/properties" ma:root="true" ma:fieldsID="8e6115079ec1d747942f7c13d6f615c3" ns2:_="" ns3:_="">
    <xsd:import namespace="cce4e3ee-c2a2-4c7a-918b-b127e3132eda"/>
    <xsd:import namespace="2e5e97ba-1964-4273-b2a7-681533174b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e4e3ee-c2a2-4c7a-918b-b127e3132e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208b3abc-62d9-4941-89fa-44cd12f9c5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5e97ba-1964-4273-b2a7-681533174bc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0498d48-944b-455b-a242-2120352415cf}" ma:internalName="TaxCatchAll" ma:showField="CatchAllData" ma:web="2e5e97ba-1964-4273-b2a7-681533174b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ce4e3ee-c2a2-4c7a-918b-b127e3132eda">
      <Terms xmlns="http://schemas.microsoft.com/office/infopath/2007/PartnerControls"/>
    </lcf76f155ced4ddcb4097134ff3c332f>
    <TaxCatchAll xmlns="2e5e97ba-1964-4273-b2a7-681533174bc3" xsi:nil="true"/>
  </documentManagement>
</p:properties>
</file>

<file path=customXml/itemProps1.xml><?xml version="1.0" encoding="utf-8"?>
<ds:datastoreItem xmlns:ds="http://schemas.openxmlformats.org/officeDocument/2006/customXml" ds:itemID="{8CB3832C-9E2E-40B1-AE53-6ADECBB67B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454844-9F6F-4AF0-B53E-D90A930EE1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e4e3ee-c2a2-4c7a-918b-b127e3132eda"/>
    <ds:schemaRef ds:uri="2e5e97ba-1964-4273-b2a7-681533174b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3D5EFD-30D8-4639-B47D-9563E570904B}">
  <ds:schemaRefs>
    <ds:schemaRef ds:uri="http://purl.org/dc/dcmitype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2e5e97ba-1964-4273-b2a7-681533174bc3"/>
    <ds:schemaRef ds:uri="cce4e3ee-c2a2-4c7a-918b-b127e3132eda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434</Words>
  <Application>Microsoft Office PowerPoint</Application>
  <PresentationFormat>Panorámica</PresentationFormat>
  <Paragraphs>59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Play</vt:lpstr>
      <vt:lpstr>Tema de Office</vt:lpstr>
      <vt:lpstr>Detección de Anomalías en Series Temporales con Métodos Clásicos y Autoencoders</vt:lpstr>
      <vt:lpstr>Motivación</vt:lpstr>
      <vt:lpstr>Descripción del problema</vt:lpstr>
      <vt:lpstr>Descripción del Dataset</vt:lpstr>
      <vt:lpstr>Comparación de Métodos</vt:lpstr>
      <vt:lpstr>Visualizaciones cálculo del umbral</vt:lpstr>
      <vt:lpstr>Visualizaciones con anomalías detectadas</vt:lpstr>
      <vt:lpstr>Comparaciones</vt:lpstr>
      <vt:lpstr>Conclusiones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Benjamín Alarcón Meza</dc:creator>
  <cp:lastModifiedBy>Jorge Gaete</cp:lastModifiedBy>
  <cp:revision>16</cp:revision>
  <dcterms:created xsi:type="dcterms:W3CDTF">2024-04-05T17:44:51Z</dcterms:created>
  <dcterms:modified xsi:type="dcterms:W3CDTF">2025-12-13T03:19:06Z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f4e9a4a-eb20-4aad-9a64-8872817c1a6f_Enabled">
    <vt:lpwstr>true</vt:lpwstr>
  </property>
  <property fmtid="{D5CDD505-2E9C-101B-9397-08002B2CF9AE}" pid="3" name="MSIP_Label_9f4e9a4a-eb20-4aad-9a64-8872817c1a6f_SetDate">
    <vt:lpwstr>2024-04-05T17:56:51Z</vt:lpwstr>
  </property>
  <property fmtid="{D5CDD505-2E9C-101B-9397-08002B2CF9AE}" pid="4" name="MSIP_Label_9f4e9a4a-eb20-4aad-9a64-8872817c1a6f_Method">
    <vt:lpwstr>Standard</vt:lpwstr>
  </property>
  <property fmtid="{D5CDD505-2E9C-101B-9397-08002B2CF9AE}" pid="5" name="MSIP_Label_9f4e9a4a-eb20-4aad-9a64-8872817c1a6f_Name">
    <vt:lpwstr>defa4170-0d19-0005-0004-bc88714345d2</vt:lpwstr>
  </property>
  <property fmtid="{D5CDD505-2E9C-101B-9397-08002B2CF9AE}" pid="6" name="MSIP_Label_9f4e9a4a-eb20-4aad-9a64-8872817c1a6f_SiteId">
    <vt:lpwstr>7a599002-001c-432c-846e-1ddca9f6b299</vt:lpwstr>
  </property>
  <property fmtid="{D5CDD505-2E9C-101B-9397-08002B2CF9AE}" pid="7" name="MSIP_Label_9f4e9a4a-eb20-4aad-9a64-8872817c1a6f_ActionId">
    <vt:lpwstr>a5b2c024-946a-41d1-a36f-72713e189ab8</vt:lpwstr>
  </property>
  <property fmtid="{D5CDD505-2E9C-101B-9397-08002B2CF9AE}" pid="8" name="MSIP_Label_9f4e9a4a-eb20-4aad-9a64-8872817c1a6f_ContentBits">
    <vt:lpwstr>0</vt:lpwstr>
  </property>
  <property fmtid="{D5CDD505-2E9C-101B-9397-08002B2CF9AE}" pid="9" name="ContentTypeId">
    <vt:lpwstr>0x0101007509FA3A39657C40AFC0F8306931B1B0</vt:lpwstr>
  </property>
  <property fmtid="{D5CDD505-2E9C-101B-9397-08002B2CF9AE}" pid="10" name="MediaServiceImageTags">
    <vt:lpwstr/>
  </property>
</Properties>
</file>